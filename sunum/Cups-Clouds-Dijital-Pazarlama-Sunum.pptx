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3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Puan</c:v>
                </c:pt>
              </c:strCache>
            </c:strRef>
          </c:tx>
          <c:spPr>
            <a:solidFill>
              <a:srgbClr val="6F4E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241A1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Teknik SEO</c:v>
                  </c:pt>
                  <c:pt idx="1">
                    <c:v>Sayfa İçi</c:v>
                  </c:pt>
                  <c:pt idx="2">
                    <c:v>İçerik</c:v>
                  </c:pt>
                  <c:pt idx="3">
                    <c:v>Yapısal Veri</c:v>
                  </c:pt>
                  <c:pt idx="4">
                    <c:v>Yerel SEO</c:v>
                  </c:pt>
                  <c:pt idx="5">
                    <c:v>Uluslararası</c:v>
                  </c:pt>
                  <c:pt idx="6">
                    <c:v>Performans</c:v>
                  </c:pt>
                  <c:pt idx="7">
                    <c:v>Ölçüm Olgunluğu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</c:v>
                </c:pt>
                <c:pt idx="1">
                  <c:v>38</c:v>
                </c:pt>
                <c:pt idx="2">
                  <c:v>40</c:v>
                </c:pt>
                <c:pt idx="3">
                  <c:v>45</c:v>
                </c:pt>
                <c:pt idx="4">
                  <c:v>35</c:v>
                </c:pt>
                <c:pt idx="5">
                  <c:v>30</c:v>
                </c:pt>
                <c:pt idx="6">
                  <c:v>45</c:v>
                </c:pt>
                <c:pt idx="7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2000" u="none">
                  <a:solidFill>
                    <a:srgbClr val="241A1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400" b="0" i="0" u="none" strike="noStrike">
                <a:solidFill>
                  <a:srgbClr val="2A1E1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E6DC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6F4E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Dağılım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F4E37"/>
              </a:solidFill>
              <a:effectLst/>
            </c:spPr>
          </c:dPt>
          <c:dPt>
            <c:idx val="1"/>
            <c:bubble3D val="0"/>
            <c:spPr>
              <a:solidFill>
                <a:srgbClr val="8C6440"/>
              </a:solidFill>
              <a:effectLst/>
            </c:spPr>
          </c:dPt>
          <c:dPt>
            <c:idx val="2"/>
            <c:bubble3D val="0"/>
            <c:spPr>
              <a:solidFill>
                <a:srgbClr val="5BA6CB"/>
              </a:solidFill>
              <a:effectLst/>
            </c:spPr>
          </c:dPt>
          <c:dPt>
            <c:idx val="3"/>
            <c:bubble3D val="0"/>
            <c:spPr>
              <a:solidFill>
                <a:srgbClr val="D9902A"/>
              </a:solidFill>
              <a:effectLst/>
            </c:spPr>
          </c:dPt>
          <c:dPt>
            <c:idx val="4"/>
            <c:bubble3D val="0"/>
            <c:spPr>
              <a:solidFill>
                <a:srgbClr val="2F6E97"/>
              </a:solidFill>
              <a:effectLst/>
            </c:spPr>
          </c:dPt>
          <c:dPt>
            <c:idx val="5"/>
            <c:bubble3D val="0"/>
            <c:spPr>
              <a:solidFill>
                <a:srgbClr val="2E9E6B"/>
              </a:solidFill>
              <a:effectLst/>
            </c:spPr>
          </c:dPt>
          <c:dPt>
            <c:idx val="6"/>
            <c:bubble3D val="0"/>
            <c:spPr>
              <a:solidFill>
                <a:srgbClr val="B7A79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Meta Ads</c:v>
                </c:pt>
                <c:pt idx="1">
                  <c:v>Google Ads</c:v>
                </c:pt>
                <c:pt idx="2">
                  <c:v>TikTok</c:v>
                </c:pt>
                <c:pt idx="3">
                  <c:v>Influencer</c:v>
                </c:pt>
                <c:pt idx="4">
                  <c:v>Organik içerik</c:v>
                </c:pt>
                <c:pt idx="5">
                  <c:v>SEO</c:v>
                </c:pt>
                <c:pt idx="6">
                  <c:v>Araç/Yönetim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30</c:v>
                </c:pt>
                <c:pt idx="1">
                  <c:v>20</c:v>
                </c:pt>
                <c:pt idx="2">
                  <c:v>12</c:v>
                </c:pt>
                <c:pt idx="3">
                  <c:v>15</c:v>
                </c:pt>
                <c:pt idx="4">
                  <c:v>12</c:v>
                </c:pt>
                <c:pt idx="5">
                  <c:v>6</c:v>
                </c:pt>
                <c:pt idx="6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800">
              <a:solidFill>
                <a:srgbClr val="2A1E1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Kümülatif gelir</c:v>
                </c:pt>
              </c:strCache>
            </c:strRef>
          </c:tx>
          <c:spPr>
            <a:solidFill>
              <a:srgbClr val="6F4E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75</c:v>
                </c:pt>
                <c:pt idx="1">
                  <c:v>156</c:v>
                </c:pt>
                <c:pt idx="2">
                  <c:v>244</c:v>
                </c:pt>
                <c:pt idx="3">
                  <c:v>339</c:v>
                </c:pt>
                <c:pt idx="4">
                  <c:v>442</c:v>
                </c:pt>
                <c:pt idx="5">
                  <c:v>553</c:v>
                </c:pt>
                <c:pt idx="6">
                  <c:v>673</c:v>
                </c:pt>
                <c:pt idx="7">
                  <c:v>803</c:v>
                </c:pt>
                <c:pt idx="8">
                  <c:v>944</c:v>
                </c:pt>
                <c:pt idx="9">
                  <c:v>1096</c:v>
                </c:pt>
                <c:pt idx="10">
                  <c:v>1260</c:v>
                </c:pt>
                <c:pt idx="11">
                  <c:v>1438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A1E1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DCC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6F4E37"/>
                    </a:solidFill>
                    <a:latin typeface="Arial"/>
                  </a:defRPr>
                </a:pPr>
                <a:r>
                  <a:rPr sz="1400" b="0" i="0" u="none" strike="noStrike">
                    <a:solidFill>
                      <a:srgbClr val="6F4E37"/>
                    </a:solidFill>
                    <a:latin typeface="Arial"/>
                  </a:rPr>
                  <a:t>Bin ₺ (kümülatif)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F4E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Cups &amp; Clouds için hazırlanan detaylı dijital pazarlama sunumu. 26 şubeli kahve markasını dijitalde büyük zincirlerin önüne geçirmeyi hedefleyen bir denetim ve eylem planı.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Sunumun yol haritası: durum tespitinden somut uygulama adımlarına kadar.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Durum: teknik zemin var (WordPress + GTM + GA4) ama pazarlama ölçümü ve reklam altyapısı yarım. Küçük yatırımla büyük kazanç mümkün.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beş madde en düşük emekle en yüksek etkiyi verir. İlk 30 günün çekirdeği.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Site kurumsal/tanıtım sitesi. Ölçüm zemini (GTM+GA4) hazır — üstüne inşa edeceğiz.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ana sayfa var; online mağaza yok (shop/cart/checkout 404). E-ticaret ileriki fazın konusu.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Sekiz başlığın ortalaması 42. En zayıf: uluslararası ve yerel SEO. En hızlı düzeltilebilir: sayfa içi (başlık/meta).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Sorunların çoğu hızlı düzeltilebilir; iyi yanlar üstüne inşa edilecek güçlü bir temel sağlıyor.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İlerleme panosu web'de canlı; işaretlemeler tarayıcıda saklanıyor.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Yeşil=kurulu, sarı=kısmen, kırmızı=yapılmadı. Detaylı açıklamalar canlı panoda.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Yeşil=kurulu, sarı=kısmen, kırmızı=yapılmadı. Detaylı açıklamalar canlı panoda.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Yeşil=kurulu, sarı=kısmen, kırmızı=yapılmadı. Detaylı açıklamalar canlı panoda.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Yeşil=kurulu, sarı=kısmen, kırmızı=yapılmadı. Detaylı açıklamalar canlı panoda.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Yeşil=kurulu, sarı=kısmen, kırmızı=yapılmadı. Detaylı açıklamalar canlı panoda.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Yeşil=kurulu, sarı=kısmen, kırmızı=yapılmadı. Detaylı açıklamalar canlı panoda.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Büyükler şube sayısında önde; ama yerel arama, franchise hunisi ve niş topluluk dijitalde zayıf işleniyor — bizim alanımız.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Fark yaratacağımız üç alan: hız, yerellik ve topluluk.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Devlerin zayıf olduğu yerlerden vurmak: yerel, retargeting, sadakat, otorite.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Kimsenin tam sahiplenmediği alan: topluluk, deneyim, franchise hunisi, online ürün.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İçerik güven kurar, reklam ölçekler, influencer erişimi patlatır. Üçü birbirini besler.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faz bir öncekinin üstüne kurulur; önce ölç, sonra reklam ver, sonra ölçekle.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faz bir öncekinin üstüne kurulur; önce ölç, sonra reklam ver, sonra ölçekle.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faz bir öncekinin üstüne kurulur; önce ölç, sonra reklam ver, sonra ölçekle.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faz bir öncekinin üstüne kurulur; önce ölç, sonra reklam ver, sonra ölçekle.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faz bir öncekinin üstüne kurulur; önce ölç, sonra reklam ver, sonra ölçekle.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Kafe için ana kanal Meta; Google niyetli aramaları, TikTok genç erişimi yakalar. Web'de canlı hesaplayıcı 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%8 aylık büyüme varsayımıyla kümülatif gelir. Tahmindir; ölçüm kurulunca gerçek veriyle güncellenir.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Altyapıyı bir kez kurmak için gereken başlangıç yatırımı. Reklam harcaması buna dahil değil.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Ekip, prodüksiyon ve araçların aylık maliyeti. Reklam bütçesi ayrı planlanır.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Çekirdek 2 kişi + AI, normalde 4-5 kişilik işi yapar. Son karar ve marka sesi her zaman insanda.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geniş kitleden gerçekçe kazanabileceğimiz paya daralan üç katman. Planlama tahminidir.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Franchise sayfası + arama/LinkedIn reklamları ile bu huni beslenir. Devlerin dijitalde zayıf işlediği alan.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Sıralama her şey: ölçüm → piksel → reklam → ölçekleme → e-ticaret.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Adım adım, sade. Çoğu iş GTM üzerinden koda dokunmadan yapılır.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Adım adım, sade. Çoğu iş GTM üzerinden koda dokunmadan yapılır.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Adım adım, sade. Çoğu iş GTM üzerinden koda dokunmadan yapılır.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Adım adım, sade. Çoğu iş GTM üzerinden koda dokunmadan yapılır.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Adım adım, sade. Çoğu iş GTM üzerinden koda dokunmadan yapılır.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Adım adım, sade. Çoğu iş GTM üzerinden koda dokunmadan yapılır.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seviye: görünürlük → etkileşim → getiri. Aylık raporla izlenir.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İlk 30 gün ölçüm ve hızlı SEO düzeltmelerine ayrılır — bedava kazanç ve sağlam zemin.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Kapanış. Detaylı ve interaktif sürüm canlı panoda; işaretlemeler ve bütçe hesaplayıcı orada.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3B2A2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663440"/>
            <a:ext cx="3474720" cy="3474720"/>
          </a:xfrm>
          <a:prstGeom prst="ellipse">
            <a:avLst/>
          </a:prstGeom>
          <a:solidFill>
            <a:srgbClr val="31241A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55448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CUPS &amp; CLOUDS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2148840"/>
            <a:ext cx="11057839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Pazarlama</a:t>
            </a:r>
            <a:endParaRPr lang="en-US" sz="6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 &amp; Eylem Planı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66928" y="4709160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pazarı · Site denetimi, strateji, yol haritası, bütçe ve finansal plan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59893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A7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cupsandclouds.com  ·  Denetim tarihi 03.08.2026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İÇINDEKILER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sunumda ne var?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221284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212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44168" y="2194560"/>
            <a:ext cx="447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 özeti &amp; kritik bulgular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66928" y="3108960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108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44168" y="3090672"/>
            <a:ext cx="447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&amp; SEO denetimi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66928" y="4005072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0050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44168" y="3986784"/>
            <a:ext cx="447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durumu (6 başlık)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66928" y="4901184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9011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44168" y="4882896"/>
            <a:ext cx="447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 analizi &amp; strateji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324448" y="221284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448" y="2212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101688" y="2194560"/>
            <a:ext cx="447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aylık yol haritası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324448" y="3108960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20" name="Text 18"/>
          <p:cNvSpPr/>
          <p:nvPr/>
        </p:nvSpPr>
        <p:spPr>
          <a:xfrm>
            <a:off x="6324448" y="3108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101688" y="3090672"/>
            <a:ext cx="447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Bütçe &amp; finansal plan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324448" y="4005072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23" name="Text 21"/>
          <p:cNvSpPr/>
          <p:nvPr/>
        </p:nvSpPr>
        <p:spPr>
          <a:xfrm>
            <a:off x="6324448" y="40050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101688" y="3986784"/>
            <a:ext cx="447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rehberleri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6324448" y="4901184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26" name="Text 24"/>
          <p:cNvSpPr/>
          <p:nvPr/>
        </p:nvSpPr>
        <p:spPr>
          <a:xfrm>
            <a:off x="6324448" y="49011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101688" y="4882896"/>
            <a:ext cx="447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Ölçütler &amp; hızlı başlangıç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 ÖZETI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Sağlam temel var — motor henüz çalışmıyor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2423160"/>
            <a:ext cx="2490140" cy="1828800"/>
          </a:xfrm>
          <a:prstGeom prst="roundRect">
            <a:avLst>
              <a:gd name="adj" fmla="val 7000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3B2A2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587752"/>
            <a:ext cx="2307260" cy="9509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9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04088" y="3666744"/>
            <a:ext cx="22158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Puanı / 100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22828" y="2423160"/>
            <a:ext cx="2490140" cy="1828800"/>
          </a:xfrm>
          <a:prstGeom prst="roundRect">
            <a:avLst>
              <a:gd name="adj" fmla="val 7000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3B2A2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14268" y="2587752"/>
            <a:ext cx="2307260" cy="9509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559988" y="3666744"/>
            <a:ext cx="22158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 ölçüm aracı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278728" y="2423160"/>
            <a:ext cx="2490140" cy="1828800"/>
          </a:xfrm>
          <a:prstGeom prst="roundRect">
            <a:avLst>
              <a:gd name="adj" fmla="val 7000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3B2A2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70168" y="2587752"/>
            <a:ext cx="2307260" cy="9509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415888" y="3666744"/>
            <a:ext cx="22158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piksel / araç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9134627" y="2423160"/>
            <a:ext cx="2490140" cy="1828800"/>
          </a:xfrm>
          <a:prstGeom prst="roundRect">
            <a:avLst>
              <a:gd name="adj" fmla="val 7000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3B2A2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26067" y="2587752"/>
            <a:ext cx="2307260" cy="9509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9271787" y="3666744"/>
            <a:ext cx="22158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satış altyapısı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6928" y="4572000"/>
            <a:ext cx="11057839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ve Google Analytics 4 kurulu; ancak dönüşüm takibi, reklam pikselleri ve yerel SEO eksik. İlk hedef: ölçümü tamamlayıp reklam motorunu güvenle çalıştırmak.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Hemen dikkat isteyen 5 konu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225856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258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44168" y="2240280"/>
            <a:ext cx="1023487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yabancı dilleri engelliyor  </a:t>
            </a:r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İngilizce ve Arapça sayfalar Google'a kapalı — turist trafiği baştan kesilmiş.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66928" y="308152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081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44168" y="3063240"/>
            <a:ext cx="1023487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 takibi yok  </a:t>
            </a:r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Franchise başvurusu, iletişim, yol tarifi ölçülmüyor; hangi kanal işe yarıyor görünmüyor.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66928" y="390448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904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44168" y="3886200"/>
            <a:ext cx="1023487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Pixel yok  </a:t>
            </a:r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Instagram bir kahve markasının 1 numaralı kanalı; reklam optimize edilemiyor.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66928" y="472744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7274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44168" y="4709160"/>
            <a:ext cx="1023487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SEO zayıf  </a:t>
            </a:r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26 şube için şube sayfaları ve İşletme Profili eksik; 'yakınımda kahve' aramasında yokuz.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66928" y="555040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550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44168" y="5532120"/>
            <a:ext cx="1023487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 ve açıklamalar zayıf  </a:t>
            </a:r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Ana sayfa başlığı marka adını iki kez tekrar ediyor; meta açıklama yok.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&amp; SEO DENETIMI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Sitenin bugünkü kimliği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14300" dist="38100" dir="5400000">
              <a:srgbClr val="3B2A2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2514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86968" y="306324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+ Elementor + Yoast SEO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 sunucu · Cloudflare CDN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dilli: Türkçe · İngilizce · Arapça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uyumlu, HTTPS, canonical mevcut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236208" y="228600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0F5F8"/>
          </a:solidFill>
          <a:ln w="12700">
            <a:solidFill>
              <a:srgbClr val="D6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3B2A2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6248" y="2514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 ölçümleme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56248" y="306324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2F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Tag Manager (GTM-KZKJWLZM)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2F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4 (G-KRHM7XRYPF)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2F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Ads/remarketing izleri (kısmen)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2F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çerez bildirimi mevcut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&amp; SEO DENETIMI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Sayfalar &amp; site haritası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Yoast sitemap ve menüden çıkarıldı — her sayfa 3 dilde (TR / EN / AR).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2697480"/>
            <a:ext cx="3472586" cy="749808"/>
          </a:xfrm>
          <a:prstGeom prst="roundRect">
            <a:avLst>
              <a:gd name="adj" fmla="val 12195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697480"/>
            <a:ext cx="319826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Anasayfa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359554" y="2697480"/>
            <a:ext cx="3472586" cy="749808"/>
          </a:xfrm>
          <a:prstGeom prst="roundRect">
            <a:avLst>
              <a:gd name="adj" fmla="val 12195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2434" y="2697480"/>
            <a:ext cx="319826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Menü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152181" y="2697480"/>
            <a:ext cx="3472586" cy="749808"/>
          </a:xfrm>
          <a:prstGeom prst="roundRect">
            <a:avLst>
              <a:gd name="adj" fmla="val 12195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35061" y="2697480"/>
            <a:ext cx="319826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66928" y="3648456"/>
            <a:ext cx="3472586" cy="749808"/>
          </a:xfrm>
          <a:prstGeom prst="roundRect">
            <a:avLst>
              <a:gd name="adj" fmla="val 12195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648456"/>
            <a:ext cx="319826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Şubeler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359554" y="3648456"/>
            <a:ext cx="3472586" cy="749808"/>
          </a:xfrm>
          <a:prstGeom prst="roundRect">
            <a:avLst>
              <a:gd name="adj" fmla="val 12195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2434" y="3648456"/>
            <a:ext cx="319826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Hikayemiz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152181" y="3648456"/>
            <a:ext cx="3472586" cy="749808"/>
          </a:xfrm>
          <a:prstGeom prst="roundRect">
            <a:avLst>
              <a:gd name="adj" fmla="val 12195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5061" y="3648456"/>
            <a:ext cx="319826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Sorumluluk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66928" y="4599432"/>
            <a:ext cx="3472586" cy="749808"/>
          </a:xfrm>
          <a:prstGeom prst="roundRect">
            <a:avLst>
              <a:gd name="adj" fmla="val 12195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599432"/>
            <a:ext cx="319826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Kariyer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359554" y="4599432"/>
            <a:ext cx="3472586" cy="749808"/>
          </a:xfrm>
          <a:prstGeom prst="roundRect">
            <a:avLst>
              <a:gd name="adj" fmla="val 12195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2434" y="4599432"/>
            <a:ext cx="319826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İletişim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8152181" y="4599432"/>
            <a:ext cx="3472586" cy="749808"/>
          </a:xfrm>
          <a:prstGeom prst="roundRect">
            <a:avLst>
              <a:gd name="adj" fmla="val 12195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5061" y="4599432"/>
            <a:ext cx="319826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(4 yazı)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566928" y="5550408"/>
            <a:ext cx="3472586" cy="749808"/>
          </a:xfrm>
          <a:prstGeom prst="roundRect">
            <a:avLst>
              <a:gd name="adj" fmla="val 12195"/>
            </a:avLst>
          </a:prstGeom>
          <a:solidFill>
            <a:srgbClr val="FBEDEB"/>
          </a:solidFill>
          <a:ln w="12700">
            <a:solidFill>
              <a:srgbClr val="EBC3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5550408"/>
            <a:ext cx="319826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Mağaza — 404 (yok)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&amp; SEO DENETIMI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puanı: 42 / 100 — Zayıf, geliştirilmeli</a:t>
            </a:r>
            <a:endParaRPr lang="en-US" sz="4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2148840"/>
          <a:ext cx="11057839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&amp; SEO DENETIMI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çıkan teknik bulgular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5394960" cy="3657600"/>
          </a:xfrm>
          <a:prstGeom prst="roundRect">
            <a:avLst>
              <a:gd name="adj" fmla="val 3000"/>
            </a:avLst>
          </a:prstGeom>
          <a:solidFill>
            <a:srgbClr val="FBEDEB"/>
          </a:solidFill>
          <a:ln w="12700">
            <a:solidFill>
              <a:srgbClr val="EBC3BC"/>
            </a:solidFill>
            <a:prstDash val="solid"/>
          </a:ln>
          <a:effectLst>
            <a:outerShdw sx="100000" sy="100000" kx="0" ky="0" algn="bl" rotWithShape="0" blurRad="114300" dist="38100" dir="5400000">
              <a:srgbClr val="3B2A2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24871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Düzeltilmesi gereken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86968" y="301752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/en/ ve /ar/ dilerini engelliyor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açıklama yok, başlık tekrarlı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H1, şube için LocalBusiness şeması yok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 robots.txt'e bağlı değil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236208" y="2286000"/>
            <a:ext cx="5394960" cy="3657600"/>
          </a:xfrm>
          <a:prstGeom prst="roundRect">
            <a:avLst>
              <a:gd name="adj" fmla="val 3000"/>
            </a:avLst>
          </a:prstGeom>
          <a:solidFill>
            <a:srgbClr val="EAF3EC"/>
          </a:solidFill>
          <a:ln w="12700">
            <a:solidFill>
              <a:srgbClr val="C4E2CD"/>
            </a:solidFill>
            <a:prstDash val="solid"/>
          </a:ln>
          <a:effectLst>
            <a:outerShdw sx="100000" sy="100000" kx="0" ky="0" algn="bl" rotWithShape="0" blurRad="114300" dist="38100" dir="5400000">
              <a:srgbClr val="3B2A2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6248" y="24871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durumda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56248" y="301752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1F6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canonical, mobil viewport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1F6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CDN + Yoast sitemap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1F6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Görsellerde alt metni mevcut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1F6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+ GA4 kurulu (sağlam zemin)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DURUMU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kurulu, ne eksik?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24688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584448" y="3063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görev · 6 başlık altında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4572000"/>
            <a:ext cx="11057839" cy="457200"/>
          </a:xfrm>
          <a:prstGeom prst="roundRect">
            <a:avLst>
              <a:gd name="adj" fmla="val 50000"/>
            </a:avLst>
          </a:prstGeom>
          <a:solidFill>
            <a:srgbClr val="3B2A2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4572000"/>
            <a:ext cx="663470" cy="457200"/>
          </a:xfrm>
          <a:prstGeom prst="roundRect">
            <a:avLst>
              <a:gd name="adj" fmla="val 50000"/>
            </a:avLst>
          </a:prstGeom>
          <a:solidFill>
            <a:srgbClr val="5BA6C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21208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C9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2 madde kurulu (GTM + GA4) = %6. Kalanı fazlara böldük; tamamlandıkça işaretlenecek.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DURUMU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Ölçümleme &amp; Analitik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Ölçemediğini yönetemezsin.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2542032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514600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Tag Manager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338767" y="251460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66928" y="3145536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3118104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338767" y="311810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66928" y="3749040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3721608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dönüşüm &amp; olay takibi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338767" y="372160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66928" y="4352544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4325112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 Metrica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338767" y="432511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66928" y="4956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" y="4928616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Oturum kaydı &amp; ısı haritası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38767" y="492861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566928" y="5559552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9902A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5532120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Çerez onayı / KVKK (Consent v2)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338767" y="55321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9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Kısmen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DURUMU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Reklam Pikselleri &amp; Retargeting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 yoksa reklam gözü kapalı.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2542032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514600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Pixel (Instagram/Facebook)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338767" y="251460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66928" y="3145536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3118104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Conversions API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338767" y="311810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66928" y="3749040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9902A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3721608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dönüşüm &amp; remarketing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338767" y="372160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9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Kısmen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66928" y="4352544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4325112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Pixel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338767" y="432511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66928" y="4956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" y="4928616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Criteo (dinamik retargeting)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38767" y="492861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566928" y="5559552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5532120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AdRoll (çapraz platform)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338767" y="55321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DURUMU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SEO — Teknik Temeller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ayarlar, bedava trafik.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2542032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514600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dil engelini kaldır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338767" y="251460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66928" y="3145536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3118104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Başlıkları anahtar kelimeyle düzelt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338767" y="311810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66928" y="3749040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3721608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açıklamaları yaz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338767" y="372160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66928" y="4352544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4325112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 başına tek H1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338767" y="432511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66928" y="4956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9902A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" y="4928616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Sitemap'i robots'a ekle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38767" y="492861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9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Kısmen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566928" y="5559552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5532120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Console + Yandex Webmaster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338767" y="55321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DURUMU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SEO — Yerel &amp; İçerik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Kafe için en değerli trafik burada.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2542032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514600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İşletme Profili (26 şube)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338767" y="251460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66928" y="3255264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3227832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LocalBusiness / Cafe şeması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338767" y="322783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66928" y="3968496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3941064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Menü için Menu şeması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338767" y="394106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66928" y="468172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4654296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Şube bazlı açılış sayfaları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338767" y="465429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66928" y="5394960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9902A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" y="5367528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Düzenli blog / içerik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38767" y="536752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9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Kısmen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DURUMU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Organik Sosyal &amp; İçerik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Markanın kalbi burada atar.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2542032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514600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içerik takvimi (Reels/TikTok)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338767" y="251460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66928" y="3255264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3227832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içeriği (#cupsandclouds)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338767" y="322783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66928" y="3968496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3941064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Şubelerden içerik akışı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338767" y="394106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66928" y="468172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9902A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4654296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&amp; katalog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338767" y="465429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9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Kısmen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DURUMU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E-ticaret &amp; Dönüşüm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gelir kanalı + katalog reklamları.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2542032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514600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mağaza altyapısı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338767" y="251460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66928" y="3255264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3227832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DataLayer e-ticaret olayları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338767" y="322783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66928" y="3968496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3941064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Center + ürün feed'i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338767" y="394106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66928" y="468172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D1523F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4654296"/>
            <a:ext cx="83146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&amp; TikTok ürün kataloğu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338767" y="465429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Yapılmadı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 ANALIZI · TÜRKIYE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Sahada kimlerle yarışıyoruz?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 ·  şube gücü  ·  zayıf noktası (= bizim fırsatımız)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2395728"/>
            <a:ext cx="11057839" cy="749808"/>
          </a:xfrm>
          <a:prstGeom prst="roundRect">
            <a:avLst>
              <a:gd name="adj" fmla="val 12195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95728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Espressolab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3675888" y="2395728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~337 şube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870448" y="2395728"/>
            <a:ext cx="547999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Yerelde samimi ilişki kurmakta zorlanır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66928" y="3255264"/>
            <a:ext cx="11057839" cy="749808"/>
          </a:xfrm>
          <a:prstGeom prst="roundRect">
            <a:avLst>
              <a:gd name="adj" fmla="val 12195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255264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Kahve Dünyası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675888" y="3255264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~343 şube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870448" y="3255264"/>
            <a:ext cx="547999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Genç kahve kültürü tonu daha zayıf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66928" y="4114800"/>
            <a:ext cx="11057839" cy="749808"/>
          </a:xfrm>
          <a:prstGeom prst="roundRect">
            <a:avLst>
              <a:gd name="adj" fmla="val 12195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114800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Nevada Cafe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3675888" y="4114800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ağı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870448" y="4114800"/>
            <a:ext cx="547999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anlatısı dağınık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66928" y="4974336"/>
            <a:ext cx="11057839" cy="749808"/>
          </a:xfrm>
          <a:prstGeom prst="roundRect">
            <a:avLst>
              <a:gd name="adj" fmla="val 12195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974336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Coffy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3675888" y="4974336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Gelir payı modeli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870448" y="4974336"/>
            <a:ext cx="547999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Deneyim/topluluk yok, fiyat odaklı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566928" y="5833872"/>
            <a:ext cx="11057839" cy="749808"/>
          </a:xfrm>
          <a:prstGeom prst="roundRect">
            <a:avLst>
              <a:gd name="adj" fmla="val 12195"/>
            </a:avLst>
          </a:prstGeom>
          <a:solidFill>
            <a:srgbClr val="F0F5F8"/>
          </a:solidFill>
          <a:ln w="12700">
            <a:solidFill>
              <a:srgbClr val="D6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5833872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Cups &amp; Clouds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3675888" y="5833872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 şube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870448" y="5833872"/>
            <a:ext cx="547999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Çevik, samimi, niş topluluk kurar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 ANALIZI · TÜRKIYE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Cups &amp; Clouds'un üç kozu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2377440"/>
            <a:ext cx="3442106" cy="3383280"/>
          </a:xfrm>
          <a:prstGeom prst="roundRect">
            <a:avLst>
              <a:gd name="adj" fmla="val 3243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14300" dist="38100" dir="5400000">
              <a:srgbClr val="3B2A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697480"/>
            <a:ext cx="640080" cy="640080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86968" y="3520440"/>
            <a:ext cx="280202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Çeviklik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86968" y="4069080"/>
            <a:ext cx="2802026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şube, 340 şubeden hızlı karar alır. Küçük olmak dijitalde avantaj.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374794" y="2377440"/>
            <a:ext cx="3442106" cy="3383280"/>
          </a:xfrm>
          <a:prstGeom prst="roundRect">
            <a:avLst>
              <a:gd name="adj" fmla="val 3243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14300" dist="38100" dir="5400000">
              <a:srgbClr val="3B2A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4834" y="2697480"/>
            <a:ext cx="640080" cy="640080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1" name="Text 9"/>
          <p:cNvSpPr/>
          <p:nvPr/>
        </p:nvSpPr>
        <p:spPr>
          <a:xfrm>
            <a:off x="4694834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94834" y="3520440"/>
            <a:ext cx="280202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hâkimiyet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94834" y="4069080"/>
            <a:ext cx="2802026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Devler 'genel'e reklam verir; biz her semtte birinci olabiliriz.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182661" y="2377440"/>
            <a:ext cx="3442106" cy="3383280"/>
          </a:xfrm>
          <a:prstGeom prst="roundRect">
            <a:avLst>
              <a:gd name="adj" fmla="val 3243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14300" dist="38100" dir="5400000">
              <a:srgbClr val="3B2A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2701" y="2697480"/>
            <a:ext cx="640080" cy="640080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6" name="Text 14"/>
          <p:cNvSpPr/>
          <p:nvPr/>
        </p:nvSpPr>
        <p:spPr>
          <a:xfrm>
            <a:off x="8502701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502701" y="3520440"/>
            <a:ext cx="280202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Topluluk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502701" y="4069080"/>
            <a:ext cx="2802026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'Coffee Ride' gibi samimi topluluklar devlerce taklit edilemez.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STRATEJI · TÜRKIYE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Cephe 1 — Meydan Okuma Planı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olan talebi rakiplerden almak: aynı sahada, daha iyi dijital işçilikle.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257860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5786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44168" y="2560320"/>
            <a:ext cx="1023487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arama hâkimiyeti  </a:t>
            </a:r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Her şube için açılış sayfası + İşletme Profili optimizasyonu.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66928" y="344728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4472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44168" y="3429000"/>
            <a:ext cx="1023487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Agresif yeniden pazarlama  </a:t>
            </a:r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Meta + Google ile siteyi/Instagram'ı gezenlere düşük maliyetli geri dönüş.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66928" y="431596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315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44168" y="4297680"/>
            <a:ext cx="1023487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Sadakat &amp; tekrar ziyaret  </a:t>
            </a:r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QR menü + WhatsApp/SMS ile basit sadakat; müşteri maliyetini düşürür.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66928" y="518464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5184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44168" y="5166360"/>
            <a:ext cx="1023487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Otorite içeriği  </a:t>
            </a:r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'Third-wave kahve nedir' gibi içeriklerle arama trafiğini yakala.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STRATEJI · TÜRKIYE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Cephe 2 — Farklılaşma Planı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talep yaratmak: rakiplerin oynamadığı alanda tek marka olmak.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257860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5786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44168" y="2560320"/>
            <a:ext cx="1023487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F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Topluluk markası  </a:t>
            </a:r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'Coffee Ride' buluşmalarını düzenli seriye dönüştür; hobi topluluklarıyla etkinlik.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66928" y="344728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4472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44168" y="3429000"/>
            <a:ext cx="1023487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F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Deneyim + içerik  </a:t>
            </a:r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Barista atölyeleri, 'evde demleme' serisi — her şubede bir hikâye.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66928" y="431596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315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44168" y="4297680"/>
            <a:ext cx="1023487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F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Franchise'i ürün gibi pazarla  </a:t>
            </a:r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Yatırımcıya özel sayfa, getiri anlatımı, arama/LinkedIn reklamı.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66928" y="518464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5184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44168" y="5166360"/>
            <a:ext cx="1023487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F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paketli kahve + hediye  </a:t>
            </a:r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Kendi çekirdeğini ve merch'ini sat; markayı eve götür.</a:t>
            </a:r>
            <a:endParaRPr lang="en-US"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STRATEJI · TÜRKIYE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pazarlama kolu birlikte çalışır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2331720"/>
            <a:ext cx="3442106" cy="3657600"/>
          </a:xfrm>
          <a:prstGeom prst="roundRect">
            <a:avLst>
              <a:gd name="adj" fmla="val 3188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14300" dist="38100" dir="5400000">
              <a:srgbClr val="3B2A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624328"/>
            <a:ext cx="2802026" cy="603504"/>
          </a:xfrm>
          <a:prstGeom prst="roundRect">
            <a:avLst>
              <a:gd name="adj" fmla="val 15152"/>
            </a:avLst>
          </a:prstGeom>
          <a:solidFill>
            <a:srgbClr val="2F6E97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624328"/>
            <a:ext cx="280202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 Sosyal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32688" y="3474720"/>
            <a:ext cx="275630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Haftada 4-5 Reels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içeriği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Şube içerik akışı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gönderileri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74794" y="2331720"/>
            <a:ext cx="3442106" cy="3657600"/>
          </a:xfrm>
          <a:prstGeom prst="roundRect">
            <a:avLst>
              <a:gd name="adj" fmla="val 3188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14300" dist="38100" dir="5400000">
              <a:srgbClr val="3B2A2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4834" y="2624328"/>
            <a:ext cx="2802026" cy="603504"/>
          </a:xfrm>
          <a:prstGeom prst="roundRect">
            <a:avLst>
              <a:gd name="adj" fmla="val 15152"/>
            </a:avLst>
          </a:prstGeom>
          <a:solidFill>
            <a:srgbClr val="6F4E37"/>
          </a:solidFill>
          <a:ln/>
        </p:spPr>
      </p:sp>
      <p:sp>
        <p:nvSpPr>
          <p:cNvPr id="10" name="Text 8"/>
          <p:cNvSpPr/>
          <p:nvPr/>
        </p:nvSpPr>
        <p:spPr>
          <a:xfrm>
            <a:off x="4694834" y="2624328"/>
            <a:ext cx="280202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Ücretli PPC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40554" y="3474720"/>
            <a:ext cx="275630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reklamları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arama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erişimi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 Direct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182661" y="2331720"/>
            <a:ext cx="3442106" cy="3657600"/>
          </a:xfrm>
          <a:prstGeom prst="roundRect">
            <a:avLst>
              <a:gd name="adj" fmla="val 3188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14300" dist="38100" dir="5400000">
              <a:srgbClr val="3B2A2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02701" y="2624328"/>
            <a:ext cx="2802026" cy="603504"/>
          </a:xfrm>
          <a:prstGeom prst="roundRect">
            <a:avLst>
              <a:gd name="adj" fmla="val 15152"/>
            </a:avLst>
          </a:prstGeom>
          <a:solidFill>
            <a:srgbClr val="D9902A"/>
          </a:solidFill>
          <a:ln/>
        </p:spPr>
      </p:sp>
      <p:sp>
        <p:nvSpPr>
          <p:cNvPr id="14" name="Text 12"/>
          <p:cNvSpPr/>
          <p:nvPr/>
        </p:nvSpPr>
        <p:spPr>
          <a:xfrm>
            <a:off x="8502701" y="2624328"/>
            <a:ext cx="280202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548421" y="3474720"/>
            <a:ext cx="275630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 influencer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ölçek içerik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Barter + kod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Ride moto</a:t>
            </a:r>
            <a:endParaRPr lang="en-US" sz="2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HARITASI · 1 / 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835121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1 · Temizlik &amp; Ölçüm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698687" y="1005840"/>
            <a:ext cx="2926080" cy="822960"/>
          </a:xfrm>
          <a:prstGeom prst="roundRect">
            <a:avLst>
              <a:gd name="adj" fmla="val 15556"/>
            </a:avLst>
          </a:prstGeom>
          <a:solidFill>
            <a:srgbClr val="D1523F"/>
          </a:solidFill>
          <a:ln/>
        </p:spPr>
      </p:sp>
      <p:sp>
        <p:nvSpPr>
          <p:cNvPr id="5" name="Text 3"/>
          <p:cNvSpPr/>
          <p:nvPr/>
        </p:nvSpPr>
        <p:spPr>
          <a:xfrm>
            <a:off x="8698687" y="10058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gün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2468880"/>
            <a:ext cx="5254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düzeltmesi (/en/, /ar/)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 + meta + tek H1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dönüşüm/olay takibi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370168" y="2468880"/>
            <a:ext cx="5254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 Metrica + oturum kaydı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Clarity ısı haritası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Console + Consent v2</a:t>
            </a:r>
            <a:endParaRPr lang="en-US" sz="2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HARITASI · 2 / 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835121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2 · Piksel &amp; İlk Reklamlar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698687" y="1005840"/>
            <a:ext cx="2926080" cy="822960"/>
          </a:xfrm>
          <a:prstGeom prst="roundRect">
            <a:avLst>
              <a:gd name="adj" fmla="val 15556"/>
            </a:avLst>
          </a:prstGeom>
          <a:solidFill>
            <a:srgbClr val="D9902A"/>
          </a:solidFill>
          <a:ln/>
        </p:spPr>
      </p:sp>
      <p:sp>
        <p:nvSpPr>
          <p:cNvPr id="5" name="Text 3"/>
          <p:cNvSpPr/>
          <p:nvPr/>
        </p:nvSpPr>
        <p:spPr>
          <a:xfrm>
            <a:off x="8698687" y="10058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gün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2468880"/>
            <a:ext cx="5254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Business + Pixel + CAPI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Business + Pixel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dönüşümü tamamla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370168" y="2468880"/>
            <a:ext cx="5254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Meta &amp; Google kampanyaları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 içerik takvimi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mikro-influencer işbirlikleri</a:t>
            </a:r>
            <a:endParaRPr lang="en-US" sz="2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HARITASI · 3 / 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835121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3 · Yerel SEO &amp; Ölçekleme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698687" y="1005840"/>
            <a:ext cx="2926080" cy="822960"/>
          </a:xfrm>
          <a:prstGeom prst="roundRect">
            <a:avLst>
              <a:gd name="adj" fmla="val 15556"/>
            </a:avLst>
          </a:prstGeom>
          <a:solidFill>
            <a:srgbClr val="5BA6CB"/>
          </a:solidFill>
          <a:ln/>
        </p:spPr>
      </p:sp>
      <p:sp>
        <p:nvSpPr>
          <p:cNvPr id="5" name="Text 3"/>
          <p:cNvSpPr/>
          <p:nvPr/>
        </p:nvSpPr>
        <p:spPr>
          <a:xfrm>
            <a:off x="8698687" y="10058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 gün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2468880"/>
            <a:ext cx="5254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Şube bazlı açılış sayfaları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LocalBusiness + Menu şeması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İşletme Profili (26 şube)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370168" y="2468880"/>
            <a:ext cx="5254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Kazanan reklamları ölçekle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ölçek influencer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'Coffee Ride' seri + blog</a:t>
            </a:r>
            <a:endParaRPr lang="en-US" sz="2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HARITASI · 4 / 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835121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4 · E-ticaret &amp; Katalog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698687" y="1005840"/>
            <a:ext cx="2926080" cy="822960"/>
          </a:xfrm>
          <a:prstGeom prst="roundRect">
            <a:avLst>
              <a:gd name="adj" fmla="val 15556"/>
            </a:avLst>
          </a:prstGeom>
          <a:solidFill>
            <a:srgbClr val="2E9E6B"/>
          </a:solidFill>
          <a:ln/>
        </p:spPr>
      </p:sp>
      <p:sp>
        <p:nvSpPr>
          <p:cNvPr id="5" name="Text 3"/>
          <p:cNvSpPr/>
          <p:nvPr/>
        </p:nvSpPr>
        <p:spPr>
          <a:xfrm>
            <a:off x="8698687" y="10058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ay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2468880"/>
            <a:ext cx="5254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mağaza (kahve + merch)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DataLayer e-ticaret olayları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Center + feed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370168" y="2468880"/>
            <a:ext cx="5254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&amp; TikTok kataloğu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Criteo / AdRoll (opsiyonel)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Sepet terk otomasyonu</a:t>
            </a:r>
            <a:endParaRPr lang="en-US" sz="2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HARITASI · 5 / 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835121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5 · Marka &amp; Sürdürülebilir Büyüme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698687" y="1005840"/>
            <a:ext cx="2926080" cy="822960"/>
          </a:xfrm>
          <a:prstGeom prst="roundRect">
            <a:avLst>
              <a:gd name="adj" fmla="val 15556"/>
            </a:avLst>
          </a:prstGeom>
          <a:solidFill>
            <a:srgbClr val="6F4E37"/>
          </a:solidFill>
          <a:ln/>
        </p:spPr>
      </p:sp>
      <p:sp>
        <p:nvSpPr>
          <p:cNvPr id="5" name="Text 3"/>
          <p:cNvSpPr/>
          <p:nvPr/>
        </p:nvSpPr>
        <p:spPr>
          <a:xfrm>
            <a:off x="8698687" y="10058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ay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2468880"/>
            <a:ext cx="5254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sadakat programı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 A/B test &amp; raporlama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şube dijital lansman kiti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370168" y="2468880"/>
            <a:ext cx="5254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Sezonluk kampanya takvimi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Influencer'ı programa dönüştür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Uluslararası (EN/AR) SEO</a:t>
            </a:r>
            <a:endParaRPr lang="en-US" sz="2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BÜTÇE PLANI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bütçe dağılımı (örnek: 60.000 ₺)</a:t>
            </a:r>
            <a:endParaRPr lang="en-US" sz="4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228600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19088" y="228600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14300" dist="38100" dir="5400000">
              <a:srgbClr val="3B2A2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93408" y="24871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Varsayımlar (düzenlenebilir)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693408" y="306324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 ağırlığı: Meta + Google + TikTok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her kanalda açık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 &amp; SEO = 'işçilik' bütçesi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 / Clarity ücretsiz</a:t>
            </a:r>
            <a:endParaRPr lang="en-US" sz="2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BÜTÇE PLANI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sonuç &amp; 12 aylık projeksiyon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2524430" cy="1417320"/>
          </a:xfrm>
          <a:prstGeom prst="roundRect">
            <a:avLst>
              <a:gd name="adj" fmla="val 9032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3B2A2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359152"/>
            <a:ext cx="2341550" cy="7370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46.200 ₺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04088" y="3158338"/>
            <a:ext cx="2250110" cy="425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 harcaması/ay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11398" y="2194560"/>
            <a:ext cx="2524430" cy="1417320"/>
          </a:xfrm>
          <a:prstGeom prst="roundRect">
            <a:avLst>
              <a:gd name="adj" fmla="val 9032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3B2A2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2838" y="2359152"/>
            <a:ext cx="2341550" cy="7370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48558" y="3158338"/>
            <a:ext cx="2250110" cy="425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Tahmini dönüşüm/ay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255868" y="2194560"/>
            <a:ext cx="2524430" cy="1417320"/>
          </a:xfrm>
          <a:prstGeom prst="roundRect">
            <a:avLst>
              <a:gd name="adj" fmla="val 9032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3B2A2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47308" y="2359152"/>
            <a:ext cx="2341550" cy="7370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1.61x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93028" y="3158338"/>
            <a:ext cx="2250110" cy="425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ROAS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9100337" y="2194560"/>
            <a:ext cx="2524430" cy="1417320"/>
          </a:xfrm>
          <a:prstGeom prst="roundRect">
            <a:avLst>
              <a:gd name="adj" fmla="val 9032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3B2A2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91777" y="2359152"/>
            <a:ext cx="2341550" cy="7370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F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8.509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237497" y="3158338"/>
            <a:ext cx="2250110" cy="425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Tıklama/ay</a:t>
            </a:r>
            <a:endParaRPr lang="en-US" sz="26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66928" y="3840480"/>
          <a:ext cx="11057839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FINANSAL PLAN · DIJITAL PAZARLAMA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Yatırım harcamaları (tek seferlik)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11057839" cy="566928"/>
          </a:xfrm>
          <a:prstGeom prst="rect">
            <a:avLst/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28600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SEO teknik düzeltmeleri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98687" y="22860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25.000 ₺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66928" y="2852928"/>
            <a:ext cx="110578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852928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&amp; piksel kurulumu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98687" y="285292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35.000 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66928" y="3419856"/>
            <a:ext cx="11057839" cy="566928"/>
          </a:xfrm>
          <a:prstGeom prst="rect">
            <a:avLst/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419856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Şube sayfaları &amp; yerel arama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698687" y="341985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45.000 ₺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66928" y="3986784"/>
            <a:ext cx="110578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986784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mağaza altyapısı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698687" y="398678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60.000 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66928" y="4553712"/>
            <a:ext cx="11057839" cy="566928"/>
          </a:xfrm>
          <a:prstGeom prst="rect">
            <a:avLst/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455371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içerik başlangıç kiti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698687" y="455371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50.000 ₺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66928" y="5120640"/>
            <a:ext cx="110578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512064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araç kurulumu &amp; otomasyon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698687" y="51206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20.000 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566928" y="5870448"/>
            <a:ext cx="11057839" cy="777240"/>
          </a:xfrm>
          <a:prstGeom prst="roundRect">
            <a:avLst>
              <a:gd name="adj" fmla="val 14118"/>
            </a:avLst>
          </a:prstGeom>
          <a:solidFill>
            <a:srgbClr val="241A13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5870448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kurulum yatırımı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332927" y="587044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235.000 ₺</a:t>
            </a:r>
            <a:endParaRPr lang="en-US" sz="3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FINANSAL PLAN · DIJITAL PAZARLAMA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işletme giderleri (reklam hariç)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7863840" cy="603504"/>
          </a:xfrm>
          <a:prstGeom prst="rect">
            <a:avLst/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286000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Pazarlama sorumlusu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53328" y="2286000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45.000 ₺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66928" y="2889504"/>
            <a:ext cx="78638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889504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İçerik/tasarım (yarı zamanlı)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053328" y="2889504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25.000 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66928" y="3493008"/>
            <a:ext cx="7863840" cy="603504"/>
          </a:xfrm>
          <a:prstGeom prst="rect">
            <a:avLst/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3493008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Video/foto prodüksiyon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53328" y="3493008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15.000 ₺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66928" y="4096512"/>
            <a:ext cx="78638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4096512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&amp; yazılım (AI dahil)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53328" y="4096512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8.000 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66928" y="4700016"/>
            <a:ext cx="7863840" cy="603504"/>
          </a:xfrm>
          <a:prstGeom prst="rect">
            <a:avLst/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4700016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koordinasyonu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53328" y="4700016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 ₺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66928" y="5303520"/>
            <a:ext cx="78638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5303520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Yönetim &amp; raporlama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053328" y="5303520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12.000 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705088" y="2240280"/>
            <a:ext cx="2926080" cy="1554480"/>
          </a:xfrm>
          <a:prstGeom prst="roundRect">
            <a:avLst>
              <a:gd name="adj" fmla="val 8235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3B2A2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96528" y="2404872"/>
            <a:ext cx="2743200" cy="80833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115.000 ₺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8842248" y="3297326"/>
            <a:ext cx="265176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toplam gider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8705088" y="3977640"/>
            <a:ext cx="2926080" cy="1554480"/>
          </a:xfrm>
          <a:prstGeom prst="roundRect">
            <a:avLst>
              <a:gd name="adj" fmla="val 8235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3B2A2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796528" y="4142232"/>
            <a:ext cx="2743200" cy="80833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1,38 mn ₺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842248" y="5034686"/>
            <a:ext cx="265176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işletme gideri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66928" y="6035040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yıl operasyon toplamı (yatırım + yıllık gider, reklam hariç): 1.615.000 ₺</a:t>
            </a:r>
            <a:endParaRPr lang="en-US" sz="2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FINANSAL PLAN · VERIMLILIK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ekip, maksimum verim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3383280" cy="1737360"/>
          </a:xfrm>
          <a:prstGeom prst="roundRect">
            <a:avLst>
              <a:gd name="adj" fmla="val 7368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3B2A2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450592"/>
            <a:ext cx="3200400" cy="90342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→ 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04088" y="3467405"/>
            <a:ext cx="31089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ekip → AI destekli çekirdek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224528" y="2286000"/>
            <a:ext cx="3383280" cy="1737360"/>
          </a:xfrm>
          <a:prstGeom prst="roundRect">
            <a:avLst>
              <a:gd name="adj" fmla="val 7368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3B2A2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15968" y="2450592"/>
            <a:ext cx="3200400" cy="90342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361688" y="3467405"/>
            <a:ext cx="31089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maliyet tasarrufu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882128" y="2286000"/>
            <a:ext cx="3383280" cy="1737360"/>
          </a:xfrm>
          <a:prstGeom prst="roundRect">
            <a:avLst>
              <a:gd name="adj" fmla="val 7368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3B2A2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73568" y="2450592"/>
            <a:ext cx="3200400" cy="90342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F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7/24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019288" y="3467405"/>
            <a:ext cx="31089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ile kesintisiz üretim/yanıt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66928" y="4251960"/>
            <a:ext cx="11057839" cy="2103120"/>
          </a:xfrm>
          <a:prstGeom prst="roundRect">
            <a:avLst>
              <a:gd name="adj" fmla="val 5217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14300" dist="38100" dir="5400000">
              <a:srgbClr val="3B2A2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" y="4434840"/>
            <a:ext cx="104177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insanı değil angaryayı değiştirir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86968" y="5029200"/>
            <a:ext cx="507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 AI taslak + editör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Görsel: dakikada çok varyant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78728" y="5029200"/>
            <a:ext cx="507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Raporlama: otomatik + AI özet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Yanıt: 7/24 chatbot</a:t>
            </a:r>
            <a:endParaRPr lang="en-US" sz="2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FINANSAL PLAN · PAZAR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 büyüklüğü (dijital pazarlama)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38048" y="233172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8C6440"/>
          </a:solidFill>
          <a:ln/>
        </p:spPr>
      </p:sp>
      <p:sp>
        <p:nvSpPr>
          <p:cNvPr id="5" name="Text 3"/>
          <p:cNvSpPr/>
          <p:nvPr/>
        </p:nvSpPr>
        <p:spPr>
          <a:xfrm>
            <a:off x="1020928" y="2331720"/>
            <a:ext cx="10149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Ulaşılabilir Pazar   </a:t>
            </a:r>
            <a:pPr algn="ctr" indent="0" marL="0">
              <a:buNone/>
            </a:pPr>
            <a:r>
              <a:rPr lang="en-US" sz="2600" dirty="0">
                <a:solidFill>
                  <a:srgbClr val="F0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30.000.000 kişi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09648" y="3474720"/>
            <a:ext cx="7772400" cy="960120"/>
          </a:xfrm>
          <a:prstGeom prst="roundRect">
            <a:avLst>
              <a:gd name="adj" fmla="val 9524"/>
            </a:avLst>
          </a:prstGeom>
          <a:solidFill>
            <a:srgbClr val="6F4E37"/>
          </a:solidFill>
          <a:ln/>
        </p:spPr>
      </p:sp>
      <p:sp>
        <p:nvSpPr>
          <p:cNvPr id="7" name="Text 5"/>
          <p:cNvSpPr/>
          <p:nvPr/>
        </p:nvSpPr>
        <p:spPr>
          <a:xfrm>
            <a:off x="2392528" y="3474720"/>
            <a:ext cx="7406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Hedeflenebilir Pazar   </a:t>
            </a:r>
            <a:pPr algn="ctr" indent="0" marL="0">
              <a:buNone/>
            </a:pPr>
            <a:r>
              <a:rPr lang="en-US" sz="2600" dirty="0">
                <a:solidFill>
                  <a:srgbClr val="F0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4.500.000 kişi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718408" y="4617720"/>
            <a:ext cx="4754880" cy="960120"/>
          </a:xfrm>
          <a:prstGeom prst="roundRect">
            <a:avLst>
              <a:gd name="adj" fmla="val 9524"/>
            </a:avLst>
          </a:prstGeom>
          <a:solidFill>
            <a:srgbClr val="241A13"/>
          </a:solidFill>
          <a:ln/>
        </p:spPr>
      </p:sp>
      <p:sp>
        <p:nvSpPr>
          <p:cNvPr id="9" name="Text 7"/>
          <p:cNvSpPr/>
          <p:nvPr/>
        </p:nvSpPr>
        <p:spPr>
          <a:xfrm>
            <a:off x="3901288" y="461772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Gerçekçi Hedef Pazar (12–18 ay)   </a:t>
            </a:r>
            <a:pPr algn="ctr" indent="0" marL="0">
              <a:buNone/>
            </a:pPr>
            <a:r>
              <a:rPr lang="en-US" sz="2600" dirty="0">
                <a:solidFill>
                  <a:srgbClr val="F0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315.000 kişi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66928" y="5989320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Gerçekçi hedeften: ≈ 9.450 yeni müşteri/taraftar · ≈ 95 nitelikli franchise adayı</a:t>
            </a:r>
            <a:endParaRPr lang="en-US" sz="2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FINANSAL PLAN · FRANCHISE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adayı hunisi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franchise adayı, bir kahve müşterisinden kat kat değerli — ayrı bir dijital huni hak eder.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280720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8072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44168" y="2788920"/>
            <a:ext cx="749167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Kafe/F&amp;B yatırımına ilgi duyan girişimci havuzu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881567" y="2834640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6F4E37"/>
          </a:solidFill>
          <a:ln/>
        </p:spPr>
      </p:sp>
      <p:sp>
        <p:nvSpPr>
          <p:cNvPr id="9" name="Text 7"/>
          <p:cNvSpPr/>
          <p:nvPr/>
        </p:nvSpPr>
        <p:spPr>
          <a:xfrm>
            <a:off x="8881567" y="28346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200.000 kişi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8587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44168" y="3840480"/>
            <a:ext cx="749167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Bütçe &amp; bölge uygun, ulaşılabilir adaylar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881567" y="3886200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6F4E37"/>
          </a:solidFill>
          <a:ln/>
        </p:spPr>
      </p:sp>
      <p:sp>
        <p:nvSpPr>
          <p:cNvPr id="14" name="Text 12"/>
          <p:cNvSpPr/>
          <p:nvPr/>
        </p:nvSpPr>
        <p:spPr>
          <a:xfrm>
            <a:off x="8881567" y="38862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25.000 kişi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66928" y="491032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9103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44168" y="4892040"/>
            <a:ext cx="749167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Yılda nitelikli franchise başvurusu (hedef)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8881567" y="4937760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6F4E37"/>
          </a:solidFill>
          <a:ln/>
        </p:spPr>
      </p:sp>
      <p:sp>
        <p:nvSpPr>
          <p:cNvPr id="19" name="Text 17"/>
          <p:cNvSpPr/>
          <p:nvPr/>
        </p:nvSpPr>
        <p:spPr>
          <a:xfrm>
            <a:off x="8881567" y="493776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300–500 aday</a:t>
            </a:r>
            <a:endParaRPr lang="en-US" sz="2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41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REHBERI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işi nasıl yaparız?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228600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haber: GTM zaten kurulu — piksellerin çoğu koda dokunmadan, tek panelden eklenir.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3383280"/>
            <a:ext cx="11057839" cy="2377440"/>
          </a:xfrm>
          <a:prstGeom prst="roundRect">
            <a:avLst>
              <a:gd name="adj" fmla="val 4615"/>
            </a:avLst>
          </a:prstGeom>
          <a:solidFill>
            <a:srgbClr val="31241A"/>
          </a:solidFill>
          <a:ln w="12700">
            <a:solidFill>
              <a:srgbClr val="4A3728"/>
            </a:solidFill>
            <a:prstDash val="solid"/>
          </a:ln>
          <a:effectLst>
            <a:outerShdw sx="100000" sy="100000" kx="0" ky="0" algn="bl" rotWithShape="0" blurRad="114300" dist="38100" dir="5400000">
              <a:srgbClr val="3B2A2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3611880"/>
            <a:ext cx="103263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Altın kural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32688" y="4206240"/>
            <a:ext cx="1032631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ölç, sonra reklam ver. Piksel ve dönüşüm takibi olmadan başlatılan reklam, hangi liranın kazandırdığını göstermez. İlk 30 günü ölçüm altyapısına ayır; sonraki her ay karşılığını fazlasıyla alırsın.</a:t>
            </a:r>
            <a:endParaRPr lang="en-US" sz="2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REHBERI · 1 / 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Pixel + Conversions API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225856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258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44168" y="2240280"/>
            <a:ext cx="1023487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Business + Reklam Hesabı aç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66928" y="2916936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916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44168" y="2898648"/>
            <a:ext cx="1023487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Etkinlikler Yöneticisi'nde Pixel oluştur, kimliği kopyala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66928" y="3575304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5753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44168" y="3557016"/>
            <a:ext cx="1023487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GTM'de Meta Pixel etiketi — All Pages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66928" y="4233672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233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44168" y="4215384"/>
            <a:ext cx="1023487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Lead/Contact olay etiketleri ekle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66928" y="4892040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892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44168" y="4873752"/>
            <a:ext cx="1023487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API'yi sunucu tarafıyla bağla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66928" y="555040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550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44168" y="5532120"/>
            <a:ext cx="1023487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Helper ile test et</a:t>
            </a:r>
            <a:endParaRPr lang="en-US" sz="2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REHBERI · 2 / 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 Metrica + Webvisor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225856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258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44168" y="224028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metrica.yandex.com'da ücretsiz sayıcı aç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66928" y="303580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0358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44168" y="301752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Webvisor + ısı haritası + form analizini AÇ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66928" y="381304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813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44168" y="379476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GTM'de Özel HTML ile kodu ekle (All Pages)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66928" y="459028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5902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44168" y="457200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Yayına al, kayıtların dolmasını bekle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66928" y="536752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367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44168" y="534924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çerez metnine Metrica'yı ekle</a:t>
            </a:r>
            <a:endParaRPr lang="en-US" sz="2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REHBERI · 3 / 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dönüşüm &amp; olay takibi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225856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258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44168" y="224028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Yönetici → Etkinlikler'i aç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66928" y="303580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0358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44168" y="301752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GTM'de tıklama tetikleyicileri kur (form, tel, wa.me)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66928" y="381304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813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44168" y="379476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Etkinlik etiketleri bağla (generate_lead)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66928" y="459028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5902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44168" y="457200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Olayları 'Anahtar etkinlik' işaretle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66928" y="536752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367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44168" y="534924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Önizleme + DebugView ile doğrula</a:t>
            </a:r>
            <a:endParaRPr lang="en-US" sz="2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REHBERI · 4 / 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Clarity (ücretsiz)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225856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258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44168" y="224028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clarity.microsoft.com'da proje aç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66928" y="303580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0358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44168" y="301752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galerisinden Clarity şablonunu kur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66928" y="381304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813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44168" y="379476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kimliğini gir, tetikleyici All Pages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66928" y="459028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5902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44168" y="457200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 ve ısı haritalarını izle</a:t>
            </a:r>
            <a:endParaRPr lang="en-US" sz="2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REHBERI · 5 / 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hızlı düzeltmeleri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225856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258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44168" y="224028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robots.txt'ten /en/ ve /ar/ engelini kaldır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66928" y="303580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0358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44168" y="301752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robots'a Sitemap satırını ekle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66928" y="381304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813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44168" y="379476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Yoast'ta başlık + meta açıklamaları yaz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66928" y="459028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5902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44168" y="457200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Fazla H1'leri H2'ye çevir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66928" y="536752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367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44168" y="534924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Console + Yandex Webmaster'a gönder</a:t>
            </a:r>
            <a:endParaRPr lang="en-US" sz="2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REHBERI · 6 / 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SEO &amp; İşletme Profili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225856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258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44168" y="224028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şube için İşletme Profili'ni sahiplen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66928" y="303580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0358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44168" y="301752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Kategori, saat, telefon, menü, 10+ foto ekle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66928" y="381304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813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44168" y="379476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şubeye semt adıyla ayrı sayfa aç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66928" y="459028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5902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44168" y="457200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LocalBusiness/Cafe şeması ekle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66928" y="5367528"/>
            <a:ext cx="566928" cy="56692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367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44168" y="5349240"/>
            <a:ext cx="102348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Yorumlara yanıt ver, yorum topla (QR kart)</a:t>
            </a:r>
            <a:endParaRPr lang="en-US" sz="2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BAŞARI ÖLÇÜTLERI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Neyi izleyeceğiz?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2331720"/>
            <a:ext cx="3442106" cy="3566160"/>
          </a:xfrm>
          <a:prstGeom prst="roundRect">
            <a:avLst>
              <a:gd name="adj" fmla="val 3188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14300" dist="38100" dir="5400000">
              <a:srgbClr val="3B2A2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2606040"/>
            <a:ext cx="280202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Görünürlük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32688" y="3337560"/>
            <a:ext cx="275630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 oturum artışı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arama sıralaması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İşletme Profili görüntüleme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374794" y="2331720"/>
            <a:ext cx="3442106" cy="3566160"/>
          </a:xfrm>
          <a:prstGeom prst="roundRect">
            <a:avLst>
              <a:gd name="adj" fmla="val 3188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14300" dist="38100" dir="5400000">
              <a:srgbClr val="3B2A2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94834" y="2606040"/>
            <a:ext cx="280202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Etkileşim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740554" y="3337560"/>
            <a:ext cx="275630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Instagram/TikTok erişim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Web'de dönüşüm oranı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Oturum süresi / ısı haritası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182661" y="2331720"/>
            <a:ext cx="3442106" cy="3566160"/>
          </a:xfrm>
          <a:prstGeom prst="roundRect">
            <a:avLst>
              <a:gd name="adj" fmla="val 3188"/>
            </a:avLst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  <a:effectLst>
            <a:outerShdw sx="100000" sy="100000" kx="0" ky="0" algn="bl" rotWithShape="0" blurRad="114300" dist="38100" dir="5400000">
              <a:srgbClr val="3B2A2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2701" y="2606040"/>
            <a:ext cx="280202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Getiri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548421" y="3337560"/>
            <a:ext cx="275630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 ROAS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 başı maliyet</a:t>
            </a:r>
            <a:endParaRPr lang="en-US" sz="2600" dirty="0"/>
          </a:p>
          <a:p>
            <a:pPr algn="l" marL="228600" indent="-2286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Nitelikli franchise adayı</a:t>
            </a:r>
            <a:endParaRPr lang="en-US" sz="2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D1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30 GÜN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4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başlangıç kontrol listesi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2240280"/>
            <a:ext cx="11057839" cy="603504"/>
          </a:xfrm>
          <a:prstGeom prst="rect">
            <a:avLst/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35915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6F4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4168" y="2240280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düzeltmesi + sitemap bağlama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247327" y="2240280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F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hafta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66928" y="2843784"/>
            <a:ext cx="11057839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96265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6F4E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4168" y="2843784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dönüşüm/olay takibi kurulumu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247327" y="2843784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F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1.–2. hafta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66928" y="3447288"/>
            <a:ext cx="11057839" cy="603504"/>
          </a:xfrm>
          <a:prstGeom prst="rect">
            <a:avLst/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5661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6F4E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44168" y="3447288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 Metrica + Clarity (oturum kaydı)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247327" y="3447288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F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hafta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66928" y="4050792"/>
            <a:ext cx="11057839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16966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6F4E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44168" y="4050792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Business + Pixel + CAPI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247327" y="4050792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F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hafta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566928" y="4654296"/>
            <a:ext cx="11057839" cy="603504"/>
          </a:xfrm>
          <a:prstGeom prst="rect">
            <a:avLst/>
          </a:prstGeom>
          <a:solidFill>
            <a:srgbClr val="F4EEE7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7731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6F4E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44168" y="4654296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Başlık/meta düzeltmeleri + tek H1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247327" y="4654296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F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hafta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566928" y="5257800"/>
            <a:ext cx="11057839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37667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6F4E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44168" y="5257800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içerik takvimi + reklam hazırlığı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247327" y="5257800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F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hafta</a:t>
            </a:r>
            <a:endParaRPr lang="en-US" sz="2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41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840480" cy="3840480"/>
          </a:xfrm>
          <a:prstGeom prst="ellipse">
            <a:avLst/>
          </a:prstGeom>
          <a:solidFill>
            <a:srgbClr val="31241A"/>
          </a:solidFill>
          <a:ln/>
        </p:spPr>
      </p:sp>
      <p:sp>
        <p:nvSpPr>
          <p:cNvPr id="3" name="Shape 1"/>
          <p:cNvSpPr/>
          <p:nvPr/>
        </p:nvSpPr>
        <p:spPr>
          <a:xfrm>
            <a:off x="9814255" y="4480560"/>
            <a:ext cx="3840480" cy="3840480"/>
          </a:xfrm>
          <a:prstGeom prst="ellipse">
            <a:avLst/>
          </a:prstGeom>
          <a:solidFill>
            <a:srgbClr val="3B2A2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286000"/>
            <a:ext cx="1105783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fincan kahve kadar net bir plan.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840480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5BA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ölç · sonra büyüt · her semtte kazanç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594360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A7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pano: karacaismail.github.io/capclouds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Cups &amp; Clouds — Dijital Pazarlama Denetim &amp; Eylem Planı</dc:title>
  <dc:subject>PptxGenJS Presentation</dc:subject>
  <dc:creator>Cups &amp; Clouds</dc:creator>
  <cp:lastModifiedBy>Cups &amp; Clouds</cp:lastModifiedBy>
  <cp:revision>1</cp:revision>
  <dcterms:created xsi:type="dcterms:W3CDTF">2026-08-03T19:10:04Z</dcterms:created>
  <dcterms:modified xsi:type="dcterms:W3CDTF">2026-08-03T19:10:04Z</dcterms:modified>
</cp:coreProperties>
</file>